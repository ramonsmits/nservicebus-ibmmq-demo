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61" r:id="rId15"/>
  </p:sldIdLst>
  <p:sldSz cy="5143500" cx="9144000"/>
  <p:notesSz cx="6858000" cy="9144000"/>
  <p:embeddedFontLst>
    <p:embeddedFont>
      <p:font typeface="La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11" Type="http://schemas.openxmlformats.org/officeDocument/2006/relationships/font" Target="fonts/Lato-regular.fntdata"/><Relationship Id="rId12" Type="http://schemas.openxmlformats.org/officeDocument/2006/relationships/font" Target="fonts/Lato-bold.fntdata"/><Relationship Id="rId13" Type="http://schemas.openxmlformats.org/officeDocument/2006/relationships/font" Target="fonts/Lato-italic.fntdata"/><Relationship Id="rId14" Type="http://schemas.openxmlformats.org/officeDocument/2006/relationships/font" Target="fonts/Lato-boldItalic.fntdata"/><Relationship Id="rId15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8f9d80fd4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8f9d80fd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00729C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953783" y="749725"/>
            <a:ext cx="58785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Lato"/>
              <a:buNone/>
              <a:defRPr b="1" sz="4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Lato"/>
              <a:buNone/>
              <a:defRPr b="1" sz="5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Lato"/>
              <a:buNone/>
              <a:defRPr b="1" sz="5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Lato"/>
              <a:buNone/>
              <a:defRPr b="1" sz="5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Lato"/>
              <a:buNone/>
              <a:defRPr b="1" sz="5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Lato"/>
              <a:buNone/>
              <a:defRPr b="1" sz="5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Lato"/>
              <a:buNone/>
              <a:defRPr b="1" sz="5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Lato"/>
              <a:buNone/>
              <a:defRPr b="1" sz="5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Lato"/>
              <a:buNone/>
              <a:defRPr b="1" sz="5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953778" y="3451725"/>
            <a:ext cx="5878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Lato"/>
              <a:buNone/>
              <a:defRPr sz="2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2296800" y="524084"/>
            <a:ext cx="4538075" cy="4095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00729C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827925" y="545875"/>
            <a:ext cx="5243400" cy="168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Lato"/>
              <a:buNone/>
              <a:defRPr b="1" sz="3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Lato"/>
              <a:buNone/>
              <a:defRPr b="1" sz="36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Lato"/>
              <a:buNone/>
              <a:defRPr b="1" sz="36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Lato"/>
              <a:buNone/>
              <a:defRPr b="1" sz="36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Lato"/>
              <a:buNone/>
              <a:defRPr b="1" sz="36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Lato"/>
              <a:buNone/>
              <a:defRPr b="1" sz="36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Lato"/>
              <a:buNone/>
              <a:defRPr b="1" sz="36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Lato"/>
              <a:buNone/>
              <a:defRPr b="1" sz="36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Lato"/>
              <a:buNone/>
              <a:defRPr b="1" sz="3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" name="Google Shape;14;p3"/>
          <p:cNvSpPr txBox="1"/>
          <p:nvPr/>
        </p:nvSpPr>
        <p:spPr>
          <a:xfrm>
            <a:off x="2791225" y="3427225"/>
            <a:ext cx="40704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" name="Google Shape;15;p3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4073238" y="2077580"/>
            <a:ext cx="6369826" cy="5748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0000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4832400" y="10000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4032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311700" y="12372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" name="Google Shape;3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bg>
      <p:bgPr>
        <a:solidFill>
          <a:srgbClr val="000000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/>
        </p:nvSpPr>
        <p:spPr>
          <a:xfrm>
            <a:off x="2658600" y="1969200"/>
            <a:ext cx="38268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 b="1" sz="3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b="1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b="1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b="1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b="1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b="1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b="1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b="1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b="1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b="1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ato"/>
              <a:buChar char="●"/>
              <a:defRPr sz="18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ato"/>
              <a:buChar char="○"/>
              <a:defRPr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ato"/>
              <a:buChar char="■"/>
              <a:defRPr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ato"/>
              <a:buChar char="●"/>
              <a:defRPr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ato"/>
              <a:buChar char="○"/>
              <a:defRPr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ato"/>
              <a:buChar char="■"/>
              <a:defRPr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ato"/>
              <a:buChar char="●"/>
              <a:defRPr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ato"/>
              <a:buChar char="○"/>
              <a:defRPr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Lato"/>
              <a:buChar char="■"/>
              <a:defRPr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 txBox="1"/>
          <p:nvPr>
            <p:ph type="ctrTitle"/>
          </p:nvPr>
        </p:nvSpPr>
        <p:spPr>
          <a:xfrm>
            <a:off x="2953775" y="221525"/>
            <a:ext cx="5878500" cy="214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NServiceBus IBM MQ Transport</a:t>
            </a:r>
            <a:endParaRPr/>
          </a:p>
        </p:txBody>
      </p:sp>
      <p:sp>
        <p:nvSpPr>
          <p:cNvPr id="48" name="Google Shape;48;p14"/>
          <p:cNvSpPr txBox="1"/>
          <p:nvPr>
            <p:ph idx="1" type="subTitle"/>
          </p:nvPr>
        </p:nvSpPr>
        <p:spPr>
          <a:xfrm>
            <a:off x="2953778" y="2961200"/>
            <a:ext cx="5878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Generally available</a:t>
            </a:r>
            <a:endParaRPr/>
          </a:p>
        </p:txBody>
      </p:sp>
      <p:cxnSp>
        <p:nvCxnSpPr>
          <p:cNvPr id="49" name="Google Shape;49;p14"/>
          <p:cNvCxnSpPr/>
          <p:nvPr/>
        </p:nvCxnSpPr>
        <p:spPr>
          <a:xfrm>
            <a:off x="3088982" y="2571745"/>
            <a:ext cx="5273700" cy="0"/>
          </a:xfrm>
          <a:prstGeom prst="straightConnector1">
            <a:avLst/>
          </a:prstGeom>
          <a:noFill/>
          <a:ln cap="flat" cmpd="sng" w="19050">
            <a:solidFill>
              <a:srgbClr val="5FADC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In the next five minutes</a:t>
            </a:r>
            <a:endParaRPr/>
          </a:p>
        </p:txBody>
      </p:sp>
      <p:sp>
        <p:nvSpPr>
          <p:cNvPr id="55" name="Google Shape;55;p15"/>
          <p:cNvSpPr txBox="1"/>
          <p:nvPr>
            <p:ph idx="1" type="body"/>
          </p:nvPr>
        </p:nvSpPr>
        <p:spPr>
          <a:xfrm>
            <a:off x="311700" y="1182425"/>
            <a:ext cx="8520600" cy="30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>Build a subscriber from scratch</a:t>
            </a:r>
            <a:endParaRPr/>
          </a:p>
          <a:p>
            <a:r>
              <a:t>See queues and topic subscriptions appear in IBM MQ</a:t>
            </a:r>
          </a:p>
          <a:p>
            <a:r>
              <a:t>Handle and replay a failure</a:t>
            </a:r>
          </a:p>
          <a:p>
            <a:r>
              <a:t>Trace it end-to-end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There's more in NServiceBus.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Bridge — Connect IBM MQ to RabbitMQ, Azure Service Bus, SQS, or Kafka</a:t>
            </a:r>
          </a:p>
          <a:p>
            <a:r>
              <a:t>Sagas — Long-running stateful workflows with persisted state</a:t>
            </a:r>
          </a:p>
          <a:p>
            <a:r>
              <a:t>Outbox — Exactly-once-effective processing with your database</a:t>
            </a:r>
          </a:p>
          <a:p>
            <a:r>
              <a:t>Message mutators — Plug in legacy formats (EBCDIC, fixed-length records)</a:t>
            </a:r>
          </a:p>
          <a:p/>
          <a:p>
            <a:r>
              <a:t>docs.particular.net</a:t>
            </a:r>
          </a:p>
          <a:p>
            <a:r>
              <a:t>nuget.org/packages/NServiceBus.Transport.IBMMQ</a:t>
            </a:r>
          </a:p>
          <a:p>
            <a:r>
              <a:t>particular.net/blog/nservicebus-transport-ibmmq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